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59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26370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12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20952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05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74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135662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88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45140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376073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68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6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415864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29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44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21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11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CA4026-82E4-4AD2-8E49-F90D3ECCF156}" type="datetimeFigureOut">
              <a:rPr lang="ta-IN" smtClean="0"/>
              <a:t>25-11-2025</a:t>
            </a:fld>
            <a:endParaRPr lang="ta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ta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F468C3-F625-46B0-9C4E-6BABF2187E95}" type="slidenum">
              <a:rPr lang="ta-IN" smtClean="0"/>
              <a:t>‹#›</a:t>
            </a:fld>
            <a:endParaRPr lang="ta-IN"/>
          </a:p>
        </p:txBody>
      </p:sp>
    </p:spTree>
    <p:extLst>
      <p:ext uri="{BB962C8B-B14F-4D97-AF65-F5344CB8AC3E}">
        <p14:creationId xmlns:p14="http://schemas.microsoft.com/office/powerpoint/2010/main" val="278178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bwapp/install.ph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4849" y="3367220"/>
            <a:ext cx="7713773" cy="215537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latin typeface="Berlin Sans FB Demi" panose="020E0802020502020306" pitchFamily="34" charset="0"/>
              </a:rPr>
              <a:t>BRUTE-FORCE ATTACK </a:t>
            </a:r>
            <a:r>
              <a:rPr lang="en-US" sz="4400" b="1" dirty="0">
                <a:latin typeface="Berlin Sans FB Demi" panose="020E0802020502020306" pitchFamily="34" charset="0"/>
              </a:rPr>
              <a:t>IMPLEMENTATION</a:t>
            </a:r>
            <a:r>
              <a:rPr lang="en-US" sz="4900" b="1" dirty="0">
                <a:latin typeface="Berlin Sans FB Demi" panose="020E0802020502020306" pitchFamily="34" charset="0"/>
              </a:rPr>
              <a:t> USING BURP SUITE &amp; HYDRA ON </a:t>
            </a:r>
            <a:r>
              <a:rPr lang="en-US" sz="4900" b="1" dirty="0" err="1">
                <a:latin typeface="Berlin Sans FB Demi" panose="020E0802020502020306" pitchFamily="34" charset="0"/>
              </a:rPr>
              <a:t>bWAPP</a:t>
            </a:r>
            <a:r>
              <a:rPr lang="en-US" sz="4900" b="1" dirty="0">
                <a:latin typeface="Berlin Sans FB Demi" panose="020E0802020502020306" pitchFamily="34" charset="0"/>
              </a:rPr>
              <a:t> IN KALI LINUX</a:t>
            </a:r>
            <a:r>
              <a:rPr lang="en-US" sz="4900" dirty="0"/>
              <a:t/>
            </a:r>
            <a:br>
              <a:rPr lang="en-US" sz="4900" dirty="0"/>
            </a:br>
            <a:endParaRPr lang="ta-IN" sz="49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871236" y="5245346"/>
            <a:ext cx="3320764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                                         By</a:t>
            </a:r>
            <a:br>
              <a:rPr lang="en-IN" b="1" dirty="0"/>
            </a:br>
            <a:r>
              <a:rPr lang="en-IN" b="1" dirty="0"/>
              <a:t>                                                      LOGESH S</a:t>
            </a:r>
            <a:endParaRPr lang="ta-IN" b="1" dirty="0"/>
          </a:p>
        </p:txBody>
      </p:sp>
    </p:spTree>
    <p:extLst>
      <p:ext uri="{BB962C8B-B14F-4D97-AF65-F5344CB8AC3E}">
        <p14:creationId xmlns:p14="http://schemas.microsoft.com/office/powerpoint/2010/main" val="3356020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>
        <p:fade/>
      </p:transition>
    </mc:Choice>
    <mc:Fallback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888825"/>
            <a:ext cx="9601196" cy="1303867"/>
          </a:xfrm>
        </p:spPr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Introduction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5669" y="2449324"/>
            <a:ext cx="10140661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 </a:t>
            </a:r>
            <a:r>
              <a:rPr lang="en-US" sz="1800" b="1" dirty="0"/>
              <a:t>Cybersecurity protects computer systems from unauthorized access and malicious attacks.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 A brute-force attack tries multiple username–password combinations until it finds the correct one.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 Demonstrated using </a:t>
            </a:r>
            <a:r>
              <a:rPr lang="en-US" sz="1800" b="1" dirty="0" err="1"/>
              <a:t>bWAPP</a:t>
            </a:r>
            <a:r>
              <a:rPr lang="en-US" sz="1800" b="1" dirty="0"/>
              <a:t>, a deliberately vulnerable web application used for security testing.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 Tools used in the demo: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  – </a:t>
            </a:r>
            <a:r>
              <a:rPr lang="en-US" sz="1800" b="1" dirty="0"/>
              <a:t>Burp Suite Intruder</a:t>
            </a:r>
            <a:r>
              <a:rPr lang="en-US" sz="1800" dirty="0"/>
              <a:t> → automates repeated login attempts</a:t>
            </a:r>
            <a:br>
              <a:rPr lang="en-US" sz="1800" dirty="0"/>
            </a:br>
            <a:r>
              <a:rPr lang="en-US" sz="1800" dirty="0"/>
              <a:t>  – </a:t>
            </a:r>
            <a:r>
              <a:rPr lang="en-US" sz="1800" b="1" dirty="0"/>
              <a:t>Hydra</a:t>
            </a:r>
            <a:r>
              <a:rPr lang="en-US" sz="1800" dirty="0"/>
              <a:t> → performs high-speed password-guessing attacks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 Shows how weak authentication can be cracked in real time.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6495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Project Objectives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71465" y="2776366"/>
            <a:ext cx="8976360" cy="2810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</a:rPr>
              <a:t> Set up a safe environment for brute-force testing.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</a:rPr>
              <a:t> Capture the login request with Burp Suite for analysis.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</a:rPr>
              <a:t> Use Cluster Bomb attack to test multiple credential pairs.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</a:rPr>
              <a:t> Automate brute-force attempts efficiently using Hydra.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</a:rPr>
              <a:t> Detect valid credentials from the server’s response.</a:t>
            </a:r>
          </a:p>
        </p:txBody>
      </p:sp>
    </p:spTree>
    <p:extLst>
      <p:ext uri="{BB962C8B-B14F-4D97-AF65-F5344CB8AC3E}">
        <p14:creationId xmlns:p14="http://schemas.microsoft.com/office/powerpoint/2010/main" val="268795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Tools &amp; Technologies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34143" y="2505715"/>
            <a:ext cx="9955763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b="1" dirty="0"/>
              <a:t>Kali Linux – Security-focused OS used for penetration testing.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b="1" dirty="0"/>
              <a:t>Burp Suite Community Edition – To intercept and </a:t>
            </a:r>
            <a:r>
              <a:rPr lang="en-IN" altLang="ta-IN" b="1" dirty="0" err="1"/>
              <a:t>analyze</a:t>
            </a:r>
            <a:r>
              <a:rPr lang="en-IN" altLang="ta-IN" b="1" dirty="0"/>
              <a:t> login requests.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b="1" dirty="0"/>
              <a:t>Hydra – For automated brute-force attacks.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b="1" dirty="0"/>
              <a:t>XAMPP (PHP 5.6.40) – Local server to host the vulnerable application.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b="1" dirty="0" err="1"/>
              <a:t>bWAPP</a:t>
            </a:r>
            <a:r>
              <a:rPr lang="en-IN" altLang="ta-IN" b="1" dirty="0"/>
              <a:t> Vulnerable App – Target application for brute-force testing.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b="1" dirty="0"/>
              <a:t>Firefox Browser – Used for accessing and testing the web app.</a:t>
            </a:r>
            <a:endParaRPr lang="ta-IN" altLang="ta-IN" b="1" dirty="0"/>
          </a:p>
        </p:txBody>
      </p:sp>
    </p:spTree>
    <p:extLst>
      <p:ext uri="{BB962C8B-B14F-4D97-AF65-F5344CB8AC3E}">
        <p14:creationId xmlns:p14="http://schemas.microsoft.com/office/powerpoint/2010/main" val="129778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519266"/>
            <a:ext cx="8846974" cy="357362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Hardware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b="1" dirty="0"/>
              <a:t>4 GB RAM – Minimum memory required for smooth testing.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b="1" dirty="0"/>
              <a:t>Dual-Core Processor – Sufficient for running Kali and XAMPP simultaneously.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b="1" dirty="0"/>
              <a:t>10 GB Storage – To install OS, tools, and the vulnerable app.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b="1" dirty="0"/>
              <a:t>Software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b="1" dirty="0"/>
              <a:t>Kali Linux – Primary penetration-testing environment.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b="1" dirty="0"/>
              <a:t>XAMPP – To host the </a:t>
            </a:r>
            <a:r>
              <a:rPr lang="en-IN" sz="1800" b="1" dirty="0" err="1"/>
              <a:t>bWAPP</a:t>
            </a:r>
            <a:r>
              <a:rPr lang="en-IN" sz="1800" b="1" dirty="0"/>
              <a:t> vulnerable application.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b="1" dirty="0"/>
              <a:t>Burp Suite – For intercepting and </a:t>
            </a:r>
            <a:r>
              <a:rPr lang="en-IN" sz="1800" b="1" dirty="0" err="1"/>
              <a:t>analyzing</a:t>
            </a:r>
            <a:r>
              <a:rPr lang="en-IN" sz="1800" b="1" dirty="0"/>
              <a:t> login requests.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b="1" dirty="0"/>
              <a:t>Hydra – For performing automated brute-force attacks.</a:t>
            </a:r>
          </a:p>
        </p:txBody>
      </p:sp>
    </p:spTree>
    <p:extLst>
      <p:ext uri="{BB962C8B-B14F-4D97-AF65-F5344CB8AC3E}">
        <p14:creationId xmlns:p14="http://schemas.microsoft.com/office/powerpoint/2010/main" val="50263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erlin Sans FB Demi" panose="020E0802020502020306" pitchFamily="34" charset="0"/>
              </a:rPr>
              <a:t>What is a Brute-Force Attack?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821" y="2687560"/>
            <a:ext cx="9780036" cy="3097419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 Trial-and-error technique used to guess login credentials.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 Attacker tests multiple username–password combinations until one works.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 Highly effective against weak or common passwords.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 Can be fully automated using scripts or tools like Hydra.</a:t>
            </a:r>
          </a:p>
        </p:txBody>
      </p:sp>
    </p:spTree>
    <p:extLst>
      <p:ext uri="{BB962C8B-B14F-4D97-AF65-F5344CB8AC3E}">
        <p14:creationId xmlns:p14="http://schemas.microsoft.com/office/powerpoint/2010/main" val="181491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About </a:t>
            </a:r>
            <a:r>
              <a:rPr lang="en-IN" b="1" dirty="0" err="1">
                <a:latin typeface="Berlin Sans FB Demi" panose="020E0802020502020306" pitchFamily="34" charset="0"/>
              </a:rPr>
              <a:t>bWAPP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9706" y="2575734"/>
            <a:ext cx="9972587" cy="330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ta-IN" sz="2200" b="1" dirty="0" err="1"/>
              <a:t>bWAPP</a:t>
            </a:r>
            <a:r>
              <a:rPr lang="en-US" altLang="ta-IN" sz="2200" b="1" dirty="0"/>
              <a:t> stands for “Buggy Web Application” intentionally filled with security flaws.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ta-IN" sz="2200" b="1" dirty="0"/>
              <a:t>It is an open-source platform created for learning web security vulnerabilities.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ta-IN" sz="2200" b="1" dirty="0"/>
              <a:t>Designed specifically to help students practice real-world security testing techniques.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ta-IN" sz="2200" b="1" dirty="0"/>
              <a:t>Provides over 100 different vulnerabilities for hands-on ethical hacking practice.</a:t>
            </a:r>
            <a:endParaRPr lang="ta-IN" altLang="ta-IN" sz="2200" b="1" dirty="0"/>
          </a:p>
        </p:txBody>
      </p:sp>
    </p:spTree>
    <p:extLst>
      <p:ext uri="{BB962C8B-B14F-4D97-AF65-F5344CB8AC3E}">
        <p14:creationId xmlns:p14="http://schemas.microsoft.com/office/powerpoint/2010/main" val="70905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erlin Sans FB Demi" panose="020E0802020502020306" pitchFamily="34" charset="0"/>
              </a:rPr>
              <a:t>Running </a:t>
            </a:r>
            <a:r>
              <a:rPr lang="en-IN" dirty="0" err="1">
                <a:latin typeface="Berlin Sans FB Demi" panose="020E0802020502020306" pitchFamily="34" charset="0"/>
              </a:rPr>
              <a:t>bWAPP</a:t>
            </a:r>
            <a:endParaRPr lang="ta-IN" dirty="0">
              <a:latin typeface="Berlin Sans FB Demi" panose="020E0802020502020306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8380" y="2573390"/>
            <a:ext cx="9601196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ta-IN" b="1" dirty="0">
                <a:solidFill>
                  <a:schemeClr val="tx1"/>
                </a:solidFill>
              </a:rPr>
              <a:t> Open the </a:t>
            </a:r>
            <a:r>
              <a:rPr lang="en-US" altLang="ta-IN" b="1" dirty="0" err="1">
                <a:solidFill>
                  <a:schemeClr val="tx1"/>
                </a:solidFill>
              </a:rPr>
              <a:t>bWAPP</a:t>
            </a:r>
            <a:r>
              <a:rPr lang="en-US" altLang="ta-IN" b="1" dirty="0">
                <a:solidFill>
                  <a:schemeClr val="tx1"/>
                </a:solidFill>
              </a:rPr>
              <a:t> installer page by visiting </a:t>
            </a:r>
            <a:r>
              <a:rPr lang="en-US" altLang="ta-IN" b="1" dirty="0">
                <a:solidFill>
                  <a:schemeClr val="tx1"/>
                </a:solidFill>
                <a:hlinkClick r:id="rId2"/>
              </a:rPr>
              <a:t>http://localhost/bwapp/install.php</a:t>
            </a:r>
            <a:r>
              <a:rPr lang="en-US" altLang="ta-IN" b="1" dirty="0">
                <a:solidFill>
                  <a:schemeClr val="tx1"/>
                </a:solidFill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ta-IN" b="1" dirty="0">
                <a:solidFill>
                  <a:schemeClr val="tx1"/>
                </a:solidFill>
              </a:rPr>
              <a:t> Create the required database to initialize and configure the application.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ta-IN" b="1" dirty="0">
                <a:solidFill>
                  <a:schemeClr val="tx1"/>
                </a:solidFill>
              </a:rPr>
              <a:t> Installation completes successfully and the login page becomes fully accessible.</a:t>
            </a:r>
            <a:endParaRPr kumimoji="0" lang="ta-IN" altLang="ta-I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2935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erlin Sans FB Demi" panose="020E0802020502020306" pitchFamily="34" charset="0"/>
              </a:rPr>
              <a:t>Burp Suite Overview</a:t>
            </a:r>
            <a:endParaRPr lang="ta-IN" dirty="0">
              <a:latin typeface="Berlin Sans FB Demi" panose="020E0802020502020306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7748" y="2386701"/>
            <a:ext cx="10823510" cy="3929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100" b="1" dirty="0">
                <a:solidFill>
                  <a:schemeClr val="tx1"/>
                </a:solidFill>
              </a:rPr>
              <a:t>Intercepts and inspects HTTP requests, allowing detailed analysis of web application communication.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100" b="1" dirty="0">
                <a:solidFill>
                  <a:schemeClr val="tx1"/>
                </a:solidFill>
              </a:rPr>
              <a:t>Widely used in web penetration testing to identify weaknesses in authentication and input handling.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100" b="1" dirty="0">
                <a:solidFill>
                  <a:schemeClr val="tx1"/>
                </a:solidFill>
              </a:rPr>
              <a:t>Intruder module enables automated brute-force attacks by testing multiple payload combinations efficiently.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100" b="1" dirty="0">
                <a:solidFill>
                  <a:schemeClr val="tx1"/>
                </a:solidFill>
              </a:rPr>
              <a:t>Helps </a:t>
            </a:r>
            <a:r>
              <a:rPr lang="en-IN" altLang="ta-IN" sz="2100" b="1" dirty="0" err="1">
                <a:solidFill>
                  <a:schemeClr val="tx1"/>
                </a:solidFill>
              </a:rPr>
              <a:t>analyze</a:t>
            </a:r>
            <a:r>
              <a:rPr lang="en-IN" altLang="ta-IN" sz="2100" b="1" dirty="0">
                <a:solidFill>
                  <a:schemeClr val="tx1"/>
                </a:solidFill>
              </a:rPr>
              <a:t> server responses to detect abnormal </a:t>
            </a:r>
            <a:r>
              <a:rPr lang="en-IN" altLang="ta-IN" sz="2100" b="1" dirty="0" err="1">
                <a:solidFill>
                  <a:schemeClr val="tx1"/>
                </a:solidFill>
              </a:rPr>
              <a:t>behavior</a:t>
            </a:r>
            <a:r>
              <a:rPr lang="en-IN" altLang="ta-IN" sz="2100" b="1" dirty="0">
                <a:solidFill>
                  <a:schemeClr val="tx1"/>
                </a:solidFill>
              </a:rPr>
              <a:t> and potential security vulnerabilities.</a:t>
            </a:r>
            <a:endParaRPr kumimoji="0" lang="ta-IN" altLang="ta-IN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924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erlin Sans FB Demi" panose="020E0802020502020306" pitchFamily="34" charset="0"/>
              </a:rPr>
              <a:t>Capturing Login Request in Burp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482" y="2556932"/>
            <a:ext cx="10041294" cy="347997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Configure the Firefox browser proxy to 127.0.0.1:8080 to route traffic through Burp.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Enable Burp Suite’s Intercept mode to capture all outgoing HTTP requests.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Enter fake login credentials in the </a:t>
            </a:r>
            <a:r>
              <a:rPr lang="en-US" sz="2200" b="1" dirty="0" err="1"/>
              <a:t>bWAPP</a:t>
            </a:r>
            <a:r>
              <a:rPr lang="en-US" sz="2200" b="1" dirty="0"/>
              <a:t> application to generate a login request.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Burp Suite immediately captures the POST request, allowing detailed analysis of submitted data.</a:t>
            </a:r>
          </a:p>
        </p:txBody>
      </p:sp>
    </p:spTree>
    <p:extLst>
      <p:ext uri="{BB962C8B-B14F-4D97-AF65-F5344CB8AC3E}">
        <p14:creationId xmlns:p14="http://schemas.microsoft.com/office/powerpoint/2010/main" val="65636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Intruder Configuration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813" y="2463279"/>
            <a:ext cx="9724052" cy="3937519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 Send the captured login request to Intruder for brute-force setup.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 Clear all auto-selected positions to define payload fields manually.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 Insert payload markers around username and password parameters correctly.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 Use markers like login=§test§&amp;password=§12345§ before attacking.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 Choose Cluster Bomb mode to test multiple combinations efficiently.</a:t>
            </a:r>
            <a:endParaRPr lang="ta-IN" sz="2200" b="1" dirty="0"/>
          </a:p>
        </p:txBody>
      </p:sp>
    </p:spTree>
    <p:extLst>
      <p:ext uri="{BB962C8B-B14F-4D97-AF65-F5344CB8AC3E}">
        <p14:creationId xmlns:p14="http://schemas.microsoft.com/office/powerpoint/2010/main" val="249949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Payloads for Brute-Force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2758129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b="1" dirty="0"/>
              <a:t>Usernames:  				        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/>
              <a:t>admin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/>
              <a:t>bee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/>
              <a:t>guest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/>
              <a:t>root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C5679-32AC-903B-5CFD-C474C0EF05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800" b="1" dirty="0"/>
              <a:t>Passwords: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b="1" dirty="0"/>
              <a:t>bug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b="1" dirty="0"/>
              <a:t>123456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b="1" dirty="0"/>
              <a:t>admin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b="1" dirty="0"/>
              <a:t>password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59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Intruder Attack Results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7872" y="2536968"/>
            <a:ext cx="10276256" cy="3506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ta-IN" sz="2500" b="1" dirty="0">
                <a:solidFill>
                  <a:schemeClr val="tx1"/>
                </a:solidFill>
              </a:rPr>
              <a:t> Burp Suite displays clear response differences for each tested login attempt.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ta-IN" sz="2500" b="1" dirty="0">
                <a:solidFill>
                  <a:schemeClr val="tx1"/>
                </a:solidFill>
              </a:rPr>
              <a:t> A 302 redirect response confirms the login attempt was successful.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ta-IN" sz="2500" b="1" dirty="0">
                <a:solidFill>
                  <a:schemeClr val="tx1"/>
                </a:solidFill>
              </a:rPr>
              <a:t> Valid credentials identified successfully: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ta-IN" sz="2500" b="1" dirty="0">
                <a:solidFill>
                  <a:schemeClr val="tx1"/>
                </a:solidFill>
              </a:rPr>
              <a:t>Username “bee”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ta-IN" sz="2500" b="1" dirty="0">
                <a:solidFill>
                  <a:schemeClr val="tx1"/>
                </a:solidFill>
              </a:rPr>
              <a:t> password “bug”.</a:t>
            </a:r>
            <a:endParaRPr kumimoji="0" lang="ta-IN" altLang="ta-IN" sz="2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2833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Hydra Overview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7708" y="2728171"/>
            <a:ext cx="9414586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800" b="1" dirty="0">
                <a:solidFill>
                  <a:schemeClr val="tx1"/>
                </a:solidFill>
              </a:rPr>
              <a:t> </a:t>
            </a:r>
            <a:r>
              <a:rPr lang="en-IN" altLang="ta-IN" b="1" dirty="0">
                <a:solidFill>
                  <a:schemeClr val="tx1"/>
                </a:solidFill>
              </a:rPr>
              <a:t>Hydra is a fast, parallel tool for cracking login credentials efficiently.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b="1" dirty="0">
                <a:solidFill>
                  <a:schemeClr val="tx1"/>
                </a:solidFill>
              </a:rPr>
              <a:t> Supports many protocols including HTTP, SSH, FTP, MySQL, and more.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b="1" dirty="0">
                <a:solidFill>
                  <a:schemeClr val="tx1"/>
                </a:solidFill>
              </a:rPr>
              <a:t> Widely used for automated brute-force attacks against various authentication services.</a:t>
            </a:r>
            <a:endParaRPr kumimoji="0" lang="ta-IN" altLang="ta-I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4682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Mitigation Techniques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15482" y="2443754"/>
            <a:ext cx="10358534" cy="3604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200" b="1" dirty="0">
                <a:solidFill>
                  <a:schemeClr val="tx1"/>
                </a:solidFill>
              </a:rPr>
              <a:t>Enforce strong password policies to greatly reduce brute-force attack success.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200" b="1" dirty="0">
                <a:solidFill>
                  <a:schemeClr val="tx1"/>
                </a:solidFill>
              </a:rPr>
              <a:t>Lock user accounts temporarily after multiple failed login attempts occur.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200" b="1" dirty="0">
                <a:solidFill>
                  <a:schemeClr val="tx1"/>
                </a:solidFill>
              </a:rPr>
              <a:t>Use CAPTCHA on login pages to block automated credential stuffing attacks.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200" b="1" dirty="0">
                <a:solidFill>
                  <a:schemeClr val="tx1"/>
                </a:solidFill>
              </a:rPr>
              <a:t>Enable Multi-Factor Authentication (MFA) for an additional security verification layer.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200" b="1" dirty="0">
                <a:solidFill>
                  <a:schemeClr val="tx1"/>
                </a:solidFill>
              </a:rPr>
              <a:t>Implement rate-limiting per IP to slow repeated login attempts.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ta-IN" sz="2200" b="1" dirty="0">
                <a:solidFill>
                  <a:schemeClr val="tx1"/>
                </a:solidFill>
              </a:rPr>
              <a:t>Maintain detailed logs and monitor login activity for suspicious </a:t>
            </a:r>
            <a:r>
              <a:rPr lang="en-IN" altLang="ta-IN" sz="2200" b="1" dirty="0" err="1">
                <a:solidFill>
                  <a:schemeClr val="tx1"/>
                </a:solidFill>
              </a:rPr>
              <a:t>behavior</a:t>
            </a:r>
            <a:r>
              <a:rPr lang="en-IN" altLang="ta-IN" sz="2200" b="1" dirty="0">
                <a:solidFill>
                  <a:schemeClr val="tx1"/>
                </a:solidFill>
              </a:rPr>
              <a:t>.</a:t>
            </a:r>
            <a:endParaRPr kumimoji="0" lang="ta-IN" altLang="ta-IN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790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erlin Sans FB Demi" panose="020E0802020502020306" pitchFamily="34" charset="0"/>
              </a:rPr>
              <a:t>Hydra Wordlists</a:t>
            </a:r>
            <a:endParaRPr lang="ta-IN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291894"/>
              </p:ext>
            </p:extLst>
          </p:nvPr>
        </p:nvGraphicFramePr>
        <p:xfrm>
          <a:off x="2717368" y="2575249"/>
          <a:ext cx="6316530" cy="3564606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3156582">
                  <a:extLst>
                    <a:ext uri="{9D8B030D-6E8A-4147-A177-3AD203B41FA5}">
                      <a16:colId xmlns:a16="http://schemas.microsoft.com/office/drawing/2014/main" val="4174993022"/>
                    </a:ext>
                  </a:extLst>
                </a:gridCol>
                <a:gridCol w="3159948">
                  <a:extLst>
                    <a:ext uri="{9D8B030D-6E8A-4147-A177-3AD203B41FA5}">
                      <a16:colId xmlns:a16="http://schemas.microsoft.com/office/drawing/2014/main" val="372932909"/>
                    </a:ext>
                  </a:extLst>
                </a:gridCol>
              </a:tblGrid>
              <a:tr h="5941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</a:rPr>
                        <a:t>Usernames.txt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</a:rPr>
                        <a:t>Password.txt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extLst>
                  <a:ext uri="{0D108BD9-81ED-4DB2-BD59-A6C34878D82A}">
                    <a16:rowId xmlns:a16="http://schemas.microsoft.com/office/drawing/2014/main" val="1770797496"/>
                  </a:ext>
                </a:extLst>
              </a:tr>
              <a:tr h="5941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Admin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123456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extLst>
                  <a:ext uri="{0D108BD9-81ED-4DB2-BD59-A6C34878D82A}">
                    <a16:rowId xmlns:a16="http://schemas.microsoft.com/office/drawing/2014/main" val="2632168315"/>
                  </a:ext>
                </a:extLst>
              </a:tr>
              <a:tr h="5941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Bee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extLst>
                  <a:ext uri="{0D108BD9-81ED-4DB2-BD59-A6C34878D82A}">
                    <a16:rowId xmlns:a16="http://schemas.microsoft.com/office/drawing/2014/main" val="2311388608"/>
                  </a:ext>
                </a:extLst>
              </a:tr>
              <a:tr h="5941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Guest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Admin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extLst>
                  <a:ext uri="{0D108BD9-81ED-4DB2-BD59-A6C34878D82A}">
                    <a16:rowId xmlns:a16="http://schemas.microsoft.com/office/drawing/2014/main" val="2099466008"/>
                  </a:ext>
                </a:extLst>
              </a:tr>
              <a:tr h="5941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Root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Password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extLst>
                  <a:ext uri="{0D108BD9-81ED-4DB2-BD59-A6C34878D82A}">
                    <a16:rowId xmlns:a16="http://schemas.microsoft.com/office/drawing/2014/main" val="1279081626"/>
                  </a:ext>
                </a:extLst>
              </a:tr>
              <a:tr h="5941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Bug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28749" marR="28749" marT="0" marB="0"/>
                </a:tc>
                <a:extLst>
                  <a:ext uri="{0D108BD9-81ED-4DB2-BD59-A6C34878D82A}">
                    <a16:rowId xmlns:a16="http://schemas.microsoft.com/office/drawing/2014/main" val="1428303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01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Hydra Attack Results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829" y="250666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 Valid credentials discovered: Username “bee” with password “bug” successfully tested.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 Only one correct password identified from the entire brute-force attempt.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 Hydra results fully confirm the findings shown earlier by Burp Intruder.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 Demonstrates a successful brute-force attack performed on the </a:t>
            </a:r>
            <a:r>
              <a:rPr lang="en-US" b="1" dirty="0" err="1"/>
              <a:t>bWAPP</a:t>
            </a:r>
            <a:r>
              <a:rPr lang="en-US" b="1" dirty="0"/>
              <a:t> application.</a:t>
            </a:r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241823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Conclusion</a:t>
            </a:r>
            <a:endParaRPr lang="ta-IN" b="1" dirty="0"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614" y="2676642"/>
            <a:ext cx="10077839" cy="3199226"/>
          </a:xfrm>
        </p:spPr>
        <p:txBody>
          <a:bodyPr>
            <a:normAutofit fontScale="25000" lnSpcReduction="20000"/>
          </a:bodyPr>
          <a:lstStyle/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ta-IN" sz="9600" b="1" dirty="0"/>
              <a:t> Both Burp Suite and Hydra successfully cracked the login credentials tested.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ta-IN" sz="9600" b="1" dirty="0"/>
              <a:t> Emphasizes why strong and secure authentication practices are critically important today.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ta-IN" sz="9600" b="1" dirty="0"/>
              <a:t> Demonstrates how real brute-force attacks behave in practical, real-world scenarios.</a:t>
            </a:r>
            <a:endParaRPr lang="ta-IN" sz="9600" b="1" dirty="0"/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a-IN" sz="7400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89560" y="-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a-IN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89560" y="-4413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a-IN" altLang="ta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a-IN" altLang="ta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03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838</Words>
  <Application>Microsoft Office PowerPoint</Application>
  <PresentationFormat>Widescreen</PresentationFormat>
  <Paragraphs>111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Berlin Sans FB Demi</vt:lpstr>
      <vt:lpstr>Calibri</vt:lpstr>
      <vt:lpstr>Courier New</vt:lpstr>
      <vt:lpstr>Garamond</vt:lpstr>
      <vt:lpstr>Latha</vt:lpstr>
      <vt:lpstr>Wingdings</vt:lpstr>
      <vt:lpstr>Organic</vt:lpstr>
      <vt:lpstr>  BRUTE-FORCE ATTACK IMPLEMENTATION USING BURP SUITE &amp; HYDRA ON bWAPP IN KALI LINUX </vt:lpstr>
      <vt:lpstr>Introduction</vt:lpstr>
      <vt:lpstr>Project Objectives</vt:lpstr>
      <vt:lpstr>Tools &amp; Technologies</vt:lpstr>
      <vt:lpstr>System Requirements</vt:lpstr>
      <vt:lpstr>What is a Brute-Force Attack?</vt:lpstr>
      <vt:lpstr>About bWAPP</vt:lpstr>
      <vt:lpstr>Running bWAPP</vt:lpstr>
      <vt:lpstr>Burp Suite Overview</vt:lpstr>
      <vt:lpstr>Capturing Login Request in Burp</vt:lpstr>
      <vt:lpstr>Intruder Configuration</vt:lpstr>
      <vt:lpstr>Payloads for Brute-Force</vt:lpstr>
      <vt:lpstr>Intruder Attack Results</vt:lpstr>
      <vt:lpstr>Hydra Overview</vt:lpstr>
      <vt:lpstr>Mitigation Techniques</vt:lpstr>
      <vt:lpstr>Hydra Wordlists</vt:lpstr>
      <vt:lpstr>Hydra Attack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Logesh S</dc:creator>
  <cp:lastModifiedBy>Logesh S</cp:lastModifiedBy>
  <cp:revision>14</cp:revision>
  <dcterms:created xsi:type="dcterms:W3CDTF">2025-11-23T16:56:54Z</dcterms:created>
  <dcterms:modified xsi:type="dcterms:W3CDTF">2025-11-25T02:22:10Z</dcterms:modified>
</cp:coreProperties>
</file>